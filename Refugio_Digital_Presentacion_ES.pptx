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 mensual (USD)</c:v>
                </c:pt>
              </c:strCache>
            </c:strRef>
          </c:tx>
          <c:spPr>
            <a:solidFill>
              <a:srgbClr val="2E5A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M3</c:v>
                  </c:pt>
                  <c:pt idx="1">
                    <c:v>M6</c:v>
                  </c:pt>
                  <c:pt idx="2">
                    <c:v>M9</c:v>
                  </c:pt>
                  <c:pt idx="3">
                    <c:v>M12</c:v>
                  </c:pt>
                  <c:pt idx="4">
                    <c:v>M15</c:v>
                  </c:pt>
                  <c:pt idx="5">
                    <c:v>M18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6000</c:v>
                </c:pt>
                <c:pt idx="1">
                  <c:v>9600</c:v>
                </c:pt>
                <c:pt idx="2">
                  <c:v>14400</c:v>
                </c:pt>
                <c:pt idx="3">
                  <c:v>19200</c:v>
                </c:pt>
                <c:pt idx="4">
                  <c:v>24000</c:v>
                </c:pt>
                <c:pt idx="5">
                  <c:v>30000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685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 ·  TECNOLOGÍA  ·  LOS POBRES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31520" y="18288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Refugio Digital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Herramientas de última generación para la Gran Comisión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3931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replicable de educación AI para niños, adolescentes y jóvenes en comunidades pobres donde Cristo aún no se conoce.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«Dejad a los niños venir a mí, </a:t>
            </a:r>
            <a:pPr indent="0" marL="0">
              <a:buNone/>
            </a:pPr>
            <a:r>
              <a:rPr lang="en-US" sz="14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no se lo impidáis, porque de los tales es el reino de los cielos.»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5532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Mateo 19:14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Nueva Cosecha  ·  Elevon AI  ·  Abril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PESO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crisis que se encuentran en un mismo lugar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3566160" cy="10972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517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pueblos no alcanzados viven en regiones donde la pobreza es más severa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2194560"/>
            <a:ext cx="3566160" cy="10972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6517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572000" y="4114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poblaciones más pobres del mundo viven en esas mismas regiones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19456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2194560"/>
            <a:ext cx="3566160" cy="10972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6517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30–80%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321040" y="4114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desempleo juvenil en las regiones de pueblos no alcanzados hoy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E5A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son dos problemas separados. Son una sola geografía — y una sola oportunidad para el Evangelio.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 una silla vacía en las misiones.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EXISTE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394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517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606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Wycliffe / SIL Global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29077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Acelerando traducción bíblica con AI (Slingshot, Truffle). 541 idiomas aún esperan.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520440"/>
            <a:ext cx="5394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033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657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as Mission (BAM)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17320" y="39593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maduro. Empresas tradicionales. Rara vez AI-nativo.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572000"/>
            <a:ext cx="5394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7548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4709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 Project / Frontier Ventures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417320" y="50109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estrategia. 75% de los usuarios ahora fuera de Norteamérica.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40080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SILLA VACÍA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0" y="2468880"/>
            <a:ext cx="5212080" cy="3840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2468880"/>
            <a:ext cx="137160" cy="384048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69748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66560" y="3429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Nadie está equipando sistemáticamente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766560" y="3840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niños, adolescentes y jóvenes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766560" y="4251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comunidades recién alcanzadas con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6766560" y="4663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habilidades AI modernas para agencia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6766560" y="5074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económica, siguiendo un blueprint.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766560" y="5715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Esa silla espera ser ocupada.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Refugio Digital donde el misionero ya está.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de aprendizaje con energía solar y conexión Starlink que transforman comunidades pobres a través de educación AI genuina — replicable en cualquier parte del mundo.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2697480" cy="2651760"/>
          </a:xfrm>
          <a:prstGeom prst="rect">
            <a:avLst/>
          </a:prstGeom>
          <a:solidFill>
            <a:srgbClr val="1A2B4A"/>
          </a:solidFill>
          <a:ln w="6350">
            <a:solidFill>
              <a:srgbClr val="2E5A9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9776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Misión Integral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5120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educación es real. No es fachada.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20440" y="3749040"/>
            <a:ext cx="2697480" cy="2651760"/>
          </a:xfrm>
          <a:prstGeom prst="rect">
            <a:avLst/>
          </a:prstGeom>
          <a:solidFill>
            <a:srgbClr val="1A2B4A"/>
          </a:solidFill>
          <a:ln w="6350">
            <a:solidFill>
              <a:srgbClr val="2E5A9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39776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Misionero Local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749040" y="5120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misionero local es dueño del sitio.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0" y="3749040"/>
            <a:ext cx="2697480" cy="2651760"/>
          </a:xfrm>
          <a:prstGeom prst="rect">
            <a:avLst/>
          </a:prstGeom>
          <a:solidFill>
            <a:srgbClr val="1A2B4A"/>
          </a:solidFill>
          <a:ln w="6350">
            <a:solidFill>
              <a:srgbClr val="2E5A9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9776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9400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Agencia Económica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629400" y="5120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BAM: ingresos reales para creyentes nuevos.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281160" y="3749040"/>
            <a:ext cx="2697480" cy="2651760"/>
          </a:xfrm>
          <a:prstGeom prst="rect">
            <a:avLst/>
          </a:prstGeom>
          <a:solidFill>
            <a:srgbClr val="1A2B4A"/>
          </a:solidFill>
          <a:ln w="6350">
            <a:solidFill>
              <a:srgbClr val="2E5A9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397764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09760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Ventana Abierta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509760" y="5120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AI de 2026 no esperarán.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4008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convicciones. Un modelo. Replicación infinita.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niveles. Una sola arquitectura.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721608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3721608" cy="1371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3774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BLUEPRINT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5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open-source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3794760"/>
            <a:ext cx="91440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97764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gratuita. Cualquier misionero puede lanzar un Refugio Digital en 90 días. Currículo, guía de hardware, políticas, plantillas legales.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53128" y="2103120"/>
            <a:ext cx="3721608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53128" y="2103120"/>
            <a:ext cx="3721608" cy="1371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8" y="237744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27448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RED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727448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5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voluntarios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727448" y="3794760"/>
            <a:ext cx="91440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27448" y="397764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que se conectan voluntariamente. Mentoría, certificación, estándares de calidad, acceso a clientes y fondos. Sin franquicia.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357616" y="2103120"/>
            <a:ext cx="3721608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357616" y="2103120"/>
            <a:ext cx="3721608" cy="1371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631936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9416" y="237744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631936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LABORATORIO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8631936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5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Haití como prototipo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631936" y="3794760"/>
            <a:ext cx="91440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631936" y="397764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sitio operacional. Donde se aprenden las lecciones, se generan métricas, y se refina el modelo. Transparente y documentado.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que vive más allá de sus fundadores — replicable, documentado, abierto.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CURRÍCULO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Seis habilidades AI para la economía de 2026.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721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77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Agentes AI Sin Código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$50–$200/hora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n8n, Make, Lindy, MindStudio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53128" y="2103120"/>
            <a:ext cx="3721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3774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Ingeniería de Prompts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367528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$15–$50/hora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727448" y="3246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Outlier, Mindrift, Sigma.AI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57616" y="2103120"/>
            <a:ext cx="3721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3774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72016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Edición de Video con AI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272016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$60–$250/hora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631936" y="3246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CapCut, Runway, DaVinci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297680"/>
            <a:ext cx="3721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720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57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 Web con AI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463040" y="4937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$70–$200/hora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22960" y="5440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Lovable, Bolt, v0, Cursor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453128" y="4297680"/>
            <a:ext cx="3721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5720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67528" y="457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Contenido Bíblico con AI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367528" y="4937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727448" y="5440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+ contenido local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357616" y="4297680"/>
            <a:ext cx="3721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36" y="457200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72016" y="457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Lingüísticos Locales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272016" y="4937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$5–$40/hora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8631936" y="5440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 con Wycliffe/XRI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habilidades universales en todos los sitios. 1 se adapta al idioma local — la puerta para alianza con Wycliffe Visión 2025.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entidades. Una misión. Propiedad compartida.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arquitectura legal híbrida que protege la misión y empodera a los trabajadores — inspirada en BRAC, Grameen y Karya.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394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560320"/>
            <a:ext cx="539496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7004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679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FINES DE LUCRO (501c3)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Refugio Digital Foundation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Guardiana de la misión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los programas educativos en el campo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donaciones deducibles de impuestos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el Blueprint y dicta los bootcamps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 de la integridad teológica y ética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2560320"/>
            <a:ext cx="5394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2560320"/>
            <a:ext cx="5394960" cy="548640"/>
          </a:xfrm>
          <a:prstGeom prst="rect">
            <a:avLst/>
          </a:prstGeom>
          <a:solidFill>
            <a:srgbClr val="2E5A9F"/>
          </a:solidFill>
          <a:ln w="12700">
            <a:solidFill>
              <a:srgbClr val="2E5A9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67004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03720" y="2679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FINES DE LUCRO (LLC)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4652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Refugio Digital Enterprises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446520" y="3794760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del empoderamiento económico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los negocios BAM (datos, servicios, productos)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 a adultos 18+ en las comunidades locales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compartida en tres clases de miembros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ingresos reales y utilidades reales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286000" y="6126480"/>
            <a:ext cx="7589520" cy="5029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286000" y="619048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D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CONECTADAS POR UN ACUERDO DE SERVICIOS DOCUMENTADO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participante es dueño.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LLC tiene tres clases de miembros más un pool reservado para futuros trabajadores. Los trabajadores son mayoría. La misión está protegida.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788920"/>
            <a:ext cx="731520" cy="731520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2788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Trabajadores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4114800"/>
            <a:ext cx="54864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9768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 adultos de la empresa. Vesting a 4 años. Los graduados que llegan a ser contratados entran con vesting acelerado de 6 meses.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260604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03320" y="2788920"/>
            <a:ext cx="731520" cy="731520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0" y="2788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703320" y="3657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Misioneros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703320" y="4114800"/>
            <a:ext cx="54864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429768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misioneros locales que hospedan un sitio. Reconocimiento de su permanencia y contexto en el campo.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260604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2788920"/>
            <a:ext cx="731520" cy="731520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452360" y="2788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583680" y="3657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Fundadores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583680" y="4114800"/>
            <a:ext cx="54864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29768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Donantes fundadores e inversores de misión. Capital inicial y protección de la misión a largo plazo.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89720" y="260604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464040" y="2788920"/>
            <a:ext cx="731520" cy="731520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404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0332720" y="2788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464040" y="3657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464040" y="4114800"/>
            <a:ext cx="54864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64040" y="429768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vesting reservado para trabajadores futuros que se contraten en años 2, 3 y 4 — incluye graduados que se conviertan en trabajadores.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897880"/>
            <a:ext cx="1106424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943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trabajadores tienen el 51% — quienes construyen el proyecto son sus dueños y controlan su destino.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sitios prototipo en 36 meses.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10332720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3044952"/>
            <a:ext cx="384048" cy="384048"/>
          </a:xfrm>
          <a:prstGeom prst="ellipse">
            <a:avLst/>
          </a:prstGeom>
          <a:solidFill>
            <a:srgbClr val="D4A57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0–18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Haití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Laboratorio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en el orfanato. Operación directa del equipo fundador.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3044952"/>
            <a:ext cx="384048" cy="384048"/>
          </a:xfrm>
          <a:prstGeom prst="ellipse">
            <a:avLst/>
          </a:prstGeom>
          <a:solidFill>
            <a:srgbClr val="D4A57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12–24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América Latina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Primera Réplica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3977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 por un misionero local usando el Blueprint.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80960" y="3044952"/>
            <a:ext cx="384048" cy="384048"/>
          </a:xfrm>
          <a:prstGeom prst="ellipse">
            <a:avLst/>
          </a:prstGeom>
          <a:solidFill>
            <a:srgbClr val="D4A57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18–30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África / Asia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Cross-Cultural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3977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réplica. Otro continente, idioma, cultura.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424160" y="3044952"/>
            <a:ext cx="384048" cy="384048"/>
          </a:xfrm>
          <a:prstGeom prst="ellipse">
            <a:avLst/>
          </a:prstGeom>
          <a:solidFill>
            <a:srgbClr val="D4A57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24–36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Ventana 10/40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4400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Acceso Creativo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0" y="3977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Nación de acceso restringido. BAM como identidad legítima.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11064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394960"/>
            <a:ext cx="137160" cy="12344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AÑO 4: EL BLUEPRINT V1.0 ESTÁ PUBLICADO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5852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sitios 5 y 6 nacen sin participación directa del equipo fundador — misioneros descargan el Blueprint, lo adaptan a su contexto, y envían reportes de vuelta a la Red.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ECONOMÍA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modelo sostenible, no caridad perpetua.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HAITÍ — PROYECCIÓN DE INGRESOS (18 MESES)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42316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58368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FUENTES DE FINANCIAMIENTO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0" y="242316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06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0" y="2560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y Donaciones de Misión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0" y="2880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W.K. Kellogg, AWS Imagine, OpenAI Foundation, National Christian Foundation, Maclellan, Tyndale House, iglesias patrocinadoras.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583680" y="356616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7490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de la Empresa (BAM)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315200" y="4023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idioma criollo para Sigma.AI y Wycliffe, servicios freelance, trabajo de clientes a través de Elevon AI.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583680" y="470916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8920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0" y="4846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desde Elevon AI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315200" y="5166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"CAIO de Impacto Social": 5–10% de los contratos CAIO destinados a la Red Refugio Digital.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" y="5989320"/>
            <a:ext cx="1106424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48640" y="6035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REQUERIDO PARA LABORATORIO HAITÍ + PRIMERA RÉPLICA: ~$200,000 EN 24 MESES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INVITACIÓN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formas de construir esto juntos.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 está abierta ahora. Quien siembre en esta temporada construye una ventaja que durará una década.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606040"/>
            <a:ext cx="2697480" cy="914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8803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 el Laboratorio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$50K–$200K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4498848"/>
            <a:ext cx="64008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6634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para operaciones en Haití y la primera réplica. Deducible a través de nuestra 501(c)(3).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29000" y="2606040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29000" y="2606040"/>
            <a:ext cx="2697480" cy="914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88036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0332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Apadrina un Estudiante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70332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$100/mes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3703320" y="4498848"/>
            <a:ext cx="64008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703320" y="46634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el entrenamiento, equipo, internet y mentoría de un estudiante por un año completo.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309360" y="2606040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09360" y="2606040"/>
            <a:ext cx="2697480" cy="914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88036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8368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Hospeda un Sitio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58368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el campo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583680" y="4498848"/>
            <a:ext cx="64008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583680" y="46634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Misioneros en comunidades pobres donde ya sirven. Conviértete en sitio de la Red.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9189720" y="2606040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189720" y="2606040"/>
            <a:ext cx="2697480" cy="914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88036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46404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Únete a la Red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46404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Experticia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9464040" y="4498848"/>
            <a:ext cx="64008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464040" y="46634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Tecnólogos, pastores, y practitioners BAM que quieran mentorear, enseñar o construir.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548640" y="6400800"/>
            <a:ext cx="1106424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48640" y="64282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Refugio Digital  ·  info@refugiodigital.org  ·  refugiodigital.org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«Dejad a los niños venir a mí,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2606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no se lo impidáis,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de los tales es el reino de los cielos.»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4343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Mateo 19:14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228600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niños ya están ahí.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herramientas existen. La misión es clara.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único que falta es comenzar.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0" y="6583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 Deo Gloria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Refugio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Refugio Digital — Herramientas de última generación para la Gran Comisión</dc:title>
  <dc:subject>PptxGenJS Presentation</dc:subject>
  <dc:creator>Refugio Digital</dc:creator>
  <cp:lastModifiedBy>Refugio Digital</cp:lastModifiedBy>
  <cp:revision>1</cp:revision>
  <dcterms:created xsi:type="dcterms:W3CDTF">2026-04-13T03:20:25Z</dcterms:created>
  <dcterms:modified xsi:type="dcterms:W3CDTF">2026-04-13T03:20:25Z</dcterms:modified>
</cp:coreProperties>
</file>